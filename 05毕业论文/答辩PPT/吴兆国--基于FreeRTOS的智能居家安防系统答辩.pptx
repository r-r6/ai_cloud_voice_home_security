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308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各位老师好，我的毕业设计题目是《基于 FreeRTOS 的智能居家安防系统》，下面我将从软件架构选型、功能演示和未来改进三个方面进行汇报。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当前家庭安防面临着多种风险，如厨房燃气泄漏、门口陌生人徘徊以及室内环境异常等。而传统方案存在功能单一、仅支持本地报警且通知严重滞后等问题，难以满足现代人对家庭安全的高要求。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因此，本系统旨在解决这些问题，核心目标包括四点：一是通过多传感器融合实现对家庭环境的全面监测；二是提供OLED、声光、语音等多维度的本地即时提醒；三是通过ESP8266和MQTT协议将数据接入OneNET云平台，确保远程报警及时送达；四是引入安全门禁机制，保障系统的安全性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页面下方展示了我们的系统总体架构图，其设计逻辑涵盖了从底层的环境感知，到中间的网络传输与数据处理，再到顶层的本地与云端交互，全方位地支撑起上述的系统目标。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解决裸机系统中逻辑耦合、阻塞影响和资源冲突等问题，我们引入了FreeRTOS操作系统。通过将不同功能模块化，创建了17个独立任务，并利用信号量、消息队列等IPC机制进行任务间通信，显著提升了系统的实时性和可维护性。屏幕下方的示意图展示了FreeRTOS内核对象与任务之间的调度与交互关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我们的总体方案是基于单MCU（STM32F407）和FreeRTOS构建的。硬件上，我们充分利用了其丰富的外设资源，以支持多类型的传感器和通信模块。软件上，设计了17个常驻任务，并通过互斥量、信号量、消息队列等多种IPC机制进行高效协同工作。此外，为了确保系统安全性，我们特别设计了双重启动流程，系统上电后仅运行门禁任务，只有当用户刷卡通过身份认证后，才恢复运行所有监测任务，以防止未经授权的操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本系统实现了丰富的硬件模块，涵盖了从环境感知、人机交互到远程通信的各个方面。软件上，我们将功能划分为五大类任务，实现了采集、显示、报警、通信和存储的全面覆盖。可以概括为：“多传感 + 多通道人机交互 + 双远程（蓝牙/WiFi）+ 云端属性上报与下行控灯。”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功能演示。首先是传感器数据采集。我们的系统能够实时采集温湿度、烟雾、火焰和距离信息，并在OLED上进行显示。当检测到危险时，系统能在毫秒级内触发声光报警。值得注意的是，采集任务只负责采样，显示和报警通过队列和信号量解耦，保证了系统的高效和稳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第二个演示是远程控制功能。我们实现了近场蓝牙和云端WiFi两种方式。蓝牙适合近距离的调试和参数配置，而WiFi则通过连接OneNET云平台，实现了真正的远程监控和控制。两者互为补充，提供了灵活的交互方式。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这一页重点讲解我们在离线语音交互上的核心创新：从“被动查询”到“主动报警”的革新。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传统模式下，用户必须主动说出指令（如“查询烟雾”），系统才会反馈，这在安防场景中存在巨大隐患。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我们的解决方案是：利用FreeRTOS的二值信号量机制。当传感器检测到异常时，GPIO中断立即释放信号量，唤醒阻塞的语音任务，系统无需等待用户指令，直接播报报警语音。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这一设计让响应时间缩短至毫秒级，实现了真正的主动预警，且基于RTOS内核通信，比传统轮询方式更可靠。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本项目成功构建了一个基于FreeRTOS的智能安防系统，实现了预定的所有功能，并达到了较好的实时性。系统的亮点在于多传感融合、RTOS解耦设计、近场与云端双通道以及创新的语音主动告警。当然，项目也存在一些局限，比如任务优先级未精细调整、WiFi配网不便等，这些都将是未来改进的方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展望未来，我们计划从报警实时性、云端可用性、三端通路、配网维护和功能扩展五个方面进行优化。特别是计划开发Flutter手机App，补齐应用层，最终实现设备、云端到App的完整智能家居安防闭环。最后，再次感谢段霖老师的悉心指导，以及各位老师的宝贵时间！我的汇报到此结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jpe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.jpe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1905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FreeRTOS 的智能居家安防系统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302000"/>
            <a:ext cx="1016000" cy="76200"/>
          </a:xfrm>
          <a:prstGeom prst="roundRect">
            <a:avLst>
              <a:gd name="adj" fmla="val 0"/>
            </a:avLst>
          </a:prstGeom>
          <a:solidFill>
            <a:srgbClr val="FF7F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3810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FF7F00"/>
                </a:solidFill>
                <a:latin typeface="Noto Sans SC"/>
                <a:ea typeface="Noto Sans SC"/>
                <a:cs typeface="Noto Sans SC"/>
                <a:sym typeface="Noto Sans SC"/>
              </a:rPr>
              <a:t>毕业设计答辩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016000" y="5080000"/>
            <a:ext cx="10160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397000" y="5270500"/>
            <a:ext cx="9851073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答辩人：</a:t>
            </a:r>
            <a:r>
              <a:rPr lang="en-US" sz="16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吴兆国     |     学号：20222042236     |     专业：自动化     |     指导教师：段霖     |     时间：2026 年 5 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7F00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为什么做这套系统？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58113"/>
            <a:ext cx="3302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486713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60500" y="1461313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家庭安全隐患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841339" y="2020113"/>
            <a:ext cx="3097114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厨房明火、燃气泄漏或烟雾积聚</a:t>
            </a:r>
            <a:endParaRPr lang="en-US" sz="1100" dirty="0"/>
          </a:p>
          <a:p>
            <a:pPr indent="0" algn="l">
              <a:lnSpc>
                <a:spcPct val="116666"/>
              </a:lnSpc>
            </a:pP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家门口陌生人异常徘徊与接近</a:t>
            </a:r>
            <a:endParaRPr lang="en-US" sz="13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6666"/>
              </a:lnSpc>
            </a:pP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室内温湿度长期异常，影响居住环境</a:t>
            </a:r>
            <a:endParaRPr lang="en-US" sz="13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445000" y="1219202"/>
            <a:ext cx="3302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1447802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143500" y="1422402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传统方案局限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4699000" y="2108202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单一设备检测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zh-CN" alt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人机交互性不好，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无法联动感知环境全貌</a:t>
            </a:r>
            <a:endParaRPr lang="en-US" sz="1100" dirty="0"/>
          </a:p>
          <a:p>
            <a:pPr indent="0" algn="l">
              <a:lnSpc>
                <a:spcPct val="116666"/>
              </a:lnSpc>
            </a:pP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仅支持本地声光报警，外出时无法知晓</a:t>
            </a:r>
            <a:endParaRPr lang="en-US" sz="13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6666"/>
              </a:lnSpc>
            </a:pP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状态刷新慢，紧急情况下通知严重滞后</a:t>
            </a:r>
            <a:endParaRPr lang="en-US" sz="13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128000" y="1206234"/>
            <a:ext cx="3302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1434834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826500" y="1409434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本系统核心目标</a:t>
            </a: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8382000" y="1968234"/>
            <a:ext cx="279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融合监测：</a:t>
            </a: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多传感器协同，全面感知环境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  <a:p>
            <a:pPr indent="0" algn="l">
              <a:lnSpc>
                <a:spcPct val="108333"/>
              </a:lnSpc>
            </a:pPr>
            <a:r>
              <a:rPr lang="en-US" sz="13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本地提醒：</a:t>
            </a: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OLED屏显+声光+语音，及时预警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indent="0" algn="l">
              <a:lnSpc>
                <a:spcPct val="108333"/>
              </a:lnSpc>
            </a:pPr>
            <a:r>
              <a:rPr lang="en-US" sz="13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云端联动：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ESP8266+MQTT协议，极速上云通知。</a:t>
            </a:r>
          </a:p>
          <a:p>
            <a:pPr indent="0" algn="l">
              <a:lnSpc>
                <a:spcPct val="108333"/>
              </a:lnSpc>
            </a:pPr>
            <a:r>
              <a:rPr lang="en-US" sz="13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智能门禁：</a:t>
            </a: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刷卡解锁，保障系统与远程通道安全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62000" y="4191000"/>
            <a:ext cx="5334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016000" y="4381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FF7F00"/>
                </a:solidFill>
                <a:latin typeface="Noto Sans SC"/>
                <a:ea typeface="Noto Sans SC"/>
                <a:cs typeface="Noto Sans SC"/>
                <a:sym typeface="Noto Sans SC"/>
              </a:rPr>
              <a:t>▍ </a:t>
            </a:r>
            <a:r>
              <a:rPr lang="en-US" sz="1600" b="1" i="0" u="none" strike="noStrike" dirty="0" err="1">
                <a:solidFill>
                  <a:srgbClr val="FF7F00"/>
                </a:solidFill>
                <a:latin typeface="Noto Sans SC"/>
                <a:ea typeface="Noto Sans SC"/>
                <a:cs typeface="Noto Sans SC"/>
                <a:sym typeface="Noto Sans SC"/>
              </a:rPr>
              <a:t>架构设计逻辑：从感知到交互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1016000" y="4953000"/>
            <a:ext cx="4826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为了解决传统方案的痛点，本系统设计遵循“感知层</a:t>
            </a:r>
            <a:r>
              <a:rPr lang="en-US" sz="12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—</a:t>
            </a:r>
            <a:r>
              <a:rPr lang="zh-CN" altLang="en-US" sz="1200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控制</a:t>
            </a:r>
            <a:r>
              <a:rPr lang="en-US" sz="12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层—</a:t>
            </a:r>
            <a:r>
              <a:rPr lang="zh-CN" altLang="en-US" sz="1200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交互</a:t>
            </a:r>
            <a:r>
              <a:rPr lang="en-US" sz="12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层—</a:t>
            </a:r>
            <a:r>
              <a:rPr lang="zh-CN" altLang="en-US" sz="1200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云端</a:t>
            </a:r>
            <a:r>
              <a:rPr lang="en-US" sz="12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层”的四层架构逻辑。通过多传感器实现环境全感知，利用ESP8266实现低成本且高效的网络传输，结合本地端与云端的双重应用逻辑，最终达成“本地可见、远程可知、异常即刻通知”的核心诉求，打造一个高可靠、易扩展的家庭安防系统。</a:t>
            </a:r>
            <a:endParaRPr lang="en-US" sz="1100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E02C6F0E-C891-61C6-A109-233386850B5B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8291"/>
          <a:stretch>
            <a:fillRect/>
          </a:stretch>
        </p:blipFill>
        <p:spPr bwMode="auto">
          <a:xfrm>
            <a:off x="6350001" y="3672590"/>
            <a:ext cx="5080000" cy="310556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-64851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7F00"/>
                </a:solidFill>
                <a:latin typeface="Noto Sans SC"/>
                <a:ea typeface="Noto Sans SC"/>
                <a:cs typeface="Noto Sans SC"/>
                <a:sym typeface="Noto Sans SC"/>
              </a:rPr>
              <a:t>从裸机轮询到 FreeRTOS 多任务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3048000"/>
          </a:xfrm>
          <a:prstGeom prst="roundRect">
            <a:avLst>
              <a:gd name="adj" fmla="val 3333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668000" cy="5588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14986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📌 对比维度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048000" y="14986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裸机前后台架构 (痛点)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858000" y="1498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7F00"/>
                </a:solidFill>
                <a:latin typeface="Noto Sans SC"/>
                <a:ea typeface="Noto Sans SC"/>
                <a:cs typeface="Noto Sans SC"/>
                <a:sym typeface="Noto Sans SC"/>
              </a:rPr>
              <a:t>FreeRTOS 多任务架构 (本设计优势)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20955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程序结构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048000" y="2095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主循环+定时中断，逻辑高度耦合，代码臃肿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858000" y="2095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拆解为</a:t>
            </a:r>
            <a:r>
              <a:rPr lang="en-US" sz="1200" b="1" i="0" u="none" strike="noStrike">
                <a:solidFill>
                  <a:srgbClr val="FF7F00"/>
                </a:solidFill>
                <a:latin typeface="Noto Sans SC"/>
                <a:ea typeface="Noto Sans SC"/>
                <a:cs typeface="Noto Sans SC"/>
                <a:sym typeface="Noto Sans SC"/>
              </a:rPr>
              <a:t>17个独立任务</a:t>
            </a:r>
            <a:r>
              <a:rPr lang="en-US" sz="1200" b="0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，实现“一模块一任务”，逻辑清晰解耦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52500" y="26670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阻塞与效率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048000" y="2667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DHT11/ESP8266 </a:t>
            </a:r>
            <a:r>
              <a:rPr lang="en-US" sz="12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等外设时序易互相拖慢，CPU</a:t>
            </a:r>
            <a:r>
              <a:rPr lang="en-US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2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闲置率高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6858000" y="2667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任务阻塞时调度器自动切换填补空档，系统吞吐量大幅提升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52500" y="32385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资源与通信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048000" y="3238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串口</a:t>
            </a:r>
            <a:r>
              <a:rPr lang="en-US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/OLED </a:t>
            </a:r>
            <a:r>
              <a:rPr lang="en-US" sz="12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等硬件资源无保护，多流程调用极易发生冲突</a:t>
            </a: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6858000" y="3238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利用</a:t>
            </a:r>
            <a:r>
              <a:rPr lang="en-US" sz="1200" b="1" i="0" u="none" strike="noStrike">
                <a:solidFill>
                  <a:srgbClr val="FF7F00"/>
                </a:solidFill>
                <a:latin typeface="Noto Sans SC"/>
                <a:ea typeface="Noto Sans SC"/>
                <a:cs typeface="Noto Sans SC"/>
                <a:sym typeface="Noto Sans SC"/>
              </a:rPr>
              <a:t>互斥量与消息队列</a:t>
            </a:r>
            <a:r>
              <a:rPr lang="en-US" sz="1200" b="0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统一管理，避免资源抢占与死锁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52500" y="38100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响应与可维护性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048000" y="3810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队列轮询响应慢，且功能增加后代码膨胀难以维护</a:t>
            </a:r>
            <a:endParaRPr lang="en-US" sz="1100" dirty="0"/>
          </a:p>
        </p:txBody>
      </p:sp>
      <p:sp>
        <p:nvSpPr>
          <p:cNvPr id="20" name="AutoShape 20"/>
          <p:cNvSpPr/>
          <p:nvPr/>
        </p:nvSpPr>
        <p:spPr>
          <a:xfrm>
            <a:off x="6858000" y="3810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信号量唤醒响应</a:t>
            </a:r>
            <a:r>
              <a:rPr lang="en-US" sz="1200" b="1" i="0" u="none" strike="noStrike">
                <a:solidFill>
                  <a:srgbClr val="FF7F00"/>
                </a:solidFill>
                <a:latin typeface="Noto Sans SC"/>
                <a:ea typeface="Noto Sans SC"/>
                <a:cs typeface="Noto Sans SC"/>
                <a:sym typeface="Noto Sans SC"/>
              </a:rPr>
              <a:t>约50ms级</a:t>
            </a:r>
            <a:r>
              <a:rPr lang="en-US" sz="1200" b="0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，模块化设计与论文章节一一对应，维护性强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7F00"/>
                </a:solidFill>
                <a:latin typeface="Noto Sans SC"/>
                <a:ea typeface="Noto Sans SC"/>
                <a:cs typeface="Noto Sans SC"/>
                <a:sym typeface="Noto Sans SC"/>
              </a:rPr>
              <a:t>单 MCU + FreeRTOS 总体设计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1206500"/>
          </a:xfrm>
          <a:prstGeom prst="roundRect">
            <a:avLst>
              <a:gd name="adj" fmla="val 1263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8161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905000" y="1651000"/>
            <a:ext cx="3937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硬件平台：STM32F407VET6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168 MHz 高性能主频，提供充足算力支持多任务并行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集成 USART / SPI / I2C 等丰富外设，满足传感器及通信需求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2921000"/>
            <a:ext cx="5207000" cy="1206500"/>
          </a:xfrm>
          <a:prstGeom prst="roundRect">
            <a:avLst>
              <a:gd name="adj" fmla="val 1263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2131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905000" y="3048000"/>
            <a:ext cx="3937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软件架构：高并发任务设计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系统包含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17个常驻任务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，各司其职，分工明确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额外包含初始化一次性任务，确保系统启动配置准确无误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4318000"/>
            <a:ext cx="5207000" cy="1206500"/>
          </a:xfrm>
          <a:prstGeom prst="roundRect">
            <a:avLst>
              <a:gd name="adj" fmla="val 1263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6101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905000" y="4419600"/>
            <a:ext cx="393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任务间通信 (IPC) 机制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3个互斥量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|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4个二值信号量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|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1个事件组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|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8个消息队列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涵盖临界区保护、中断唤醒、按键事件处理及任务间消息传递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5588000"/>
            <a:ext cx="5207000" cy="1079500"/>
          </a:xfrm>
          <a:prstGeom prst="roundRect">
            <a:avLst>
              <a:gd name="adj" fmla="val 14117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8420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905000" y="5715000"/>
            <a:ext cx="393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双重安全启动流程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上电仅启动RFID门禁任务，保障物理安全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身份认证通过后，再全面恢复所有监测任务</a:t>
            </a:r>
          </a:p>
        </p:txBody>
      </p:sp>
      <p:sp>
        <p:nvSpPr>
          <p:cNvPr id="17" name="AutoShape 17"/>
          <p:cNvSpPr/>
          <p:nvPr/>
        </p:nvSpPr>
        <p:spPr>
          <a:xfrm>
            <a:off x="6350000" y="57150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STM32F407VET6 核心开发板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高性能 · 高可靠 · 高扩展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6DBE5D26-2543-B92D-CDC7-6AFB47D4A1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9307" y="2076450"/>
            <a:ext cx="5402385" cy="3511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7F00"/>
                </a:solidFill>
                <a:latin typeface="Noto Sans SC"/>
                <a:ea typeface="Noto Sans SC"/>
                <a:cs typeface="Noto Sans SC"/>
                <a:sym typeface="Noto Sans SC"/>
              </a:rPr>
              <a:t>本系统实现了哪些模块？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302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1778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1714500"/>
            <a:ext cx="203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传感采集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DHT11温湿度 / MQ-2烟雾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LM393火焰 / HC-SR04超声</a:t>
            </a:r>
          </a:p>
        </p:txBody>
      </p:sp>
      <p:sp>
        <p:nvSpPr>
          <p:cNvPr id="7" name="AutoShape 7"/>
          <p:cNvSpPr/>
          <p:nvPr/>
        </p:nvSpPr>
        <p:spPr>
          <a:xfrm>
            <a:off x="4445000" y="1524000"/>
            <a:ext cx="3302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17780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461000" y="1714500"/>
            <a:ext cx="203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人机交互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OLED菜单 / 4x4按键矩阵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蜂鸣器提示 / 多路LED状态灯</a:t>
            </a:r>
          </a:p>
        </p:txBody>
      </p:sp>
      <p:sp>
        <p:nvSpPr>
          <p:cNvPr id="10" name="AutoShape 10"/>
          <p:cNvSpPr/>
          <p:nvPr/>
        </p:nvSpPr>
        <p:spPr>
          <a:xfrm>
            <a:off x="8128000" y="1524000"/>
            <a:ext cx="3302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18500" y="17780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9144000" y="1714500"/>
            <a:ext cx="203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身份认证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集成 MFRC522 射频模块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实现刷卡式门禁功能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3429000"/>
            <a:ext cx="3302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36830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778000" y="3619500"/>
            <a:ext cx="203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近场通信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蓝牙 5.0 无线透传模块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(USART4 串行通信接口)</a:t>
            </a:r>
          </a:p>
        </p:txBody>
      </p:sp>
      <p:sp>
        <p:nvSpPr>
          <p:cNvPr id="16" name="AutoShape 16"/>
          <p:cNvSpPr/>
          <p:nvPr/>
        </p:nvSpPr>
        <p:spPr>
          <a:xfrm>
            <a:off x="4445000" y="3429000"/>
            <a:ext cx="3302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5500" y="3683000"/>
            <a:ext cx="609600" cy="609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5461000" y="3619500"/>
            <a:ext cx="203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语音交互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ASRPRO 离线语音识别模组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(USART2 接口通信)</a:t>
            </a:r>
          </a:p>
        </p:txBody>
      </p:sp>
      <p:sp>
        <p:nvSpPr>
          <p:cNvPr id="19" name="AutoShape 19"/>
          <p:cNvSpPr/>
          <p:nvPr/>
        </p:nvSpPr>
        <p:spPr>
          <a:xfrm>
            <a:off x="8128000" y="3429000"/>
            <a:ext cx="3302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18500" y="3683000"/>
            <a:ext cx="609600" cy="609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144000" y="3619500"/>
            <a:ext cx="203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远程上云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ESP8266 + MQTT 协议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对接 OneNET 物联网云平台</a:t>
            </a:r>
          </a:p>
        </p:txBody>
      </p:sp>
      <p:sp>
        <p:nvSpPr>
          <p:cNvPr id="22" name="AutoShape 22"/>
          <p:cNvSpPr/>
          <p:nvPr/>
        </p:nvSpPr>
        <p:spPr>
          <a:xfrm>
            <a:off x="762000" y="5334000"/>
            <a:ext cx="10668000" cy="1143000"/>
          </a:xfrm>
          <a:prstGeom prst="roundRect">
            <a:avLst>
              <a:gd name="adj" fmla="val 13333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FF7F0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5588000"/>
            <a:ext cx="508000" cy="508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651000" y="55245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本地持久化存储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AT24C02 存储门禁卡号/报警阈值</a:t>
            </a:r>
          </a:p>
        </p:txBody>
      </p:sp>
      <p:sp>
        <p:nvSpPr>
          <p:cNvPr id="25" name="AutoShape 25"/>
          <p:cNvSpPr/>
          <p:nvPr/>
        </p:nvSpPr>
        <p:spPr>
          <a:xfrm>
            <a:off x="4191000" y="5524500"/>
            <a:ext cx="127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4445000" y="5486400"/>
            <a:ext cx="673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7F00"/>
                </a:solidFill>
                <a:latin typeface="Noto Sans SC"/>
                <a:ea typeface="Noto Sans SC"/>
                <a:cs typeface="Noto Sans SC"/>
                <a:sym typeface="Noto Sans SC"/>
              </a:rPr>
              <a:t>软件任务分类体系：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数据采集 • 界面显示与菜单 • 异常报警执行 • 多通道通信(BLE/WiFi/USART) • EEPROM数据存储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7F00"/>
                </a:solidFill>
                <a:latin typeface="Noto Sans SC"/>
                <a:ea typeface="Noto Sans SC"/>
                <a:cs typeface="Noto Sans SC"/>
                <a:sym typeface="Noto Sans SC"/>
              </a:rPr>
              <a:t>板块一 · 多传感器数据采集与本地显示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4953000"/>
          </a:xfrm>
          <a:prstGeom prst="roundRect">
            <a:avLst>
              <a:gd name="adj" fmla="val 307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演示内容说明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349500"/>
            <a:ext cx="76200" cy="203200"/>
          </a:xfrm>
          <a:prstGeom prst="roundRect">
            <a:avLst>
              <a:gd name="adj" fmla="val 0"/>
            </a:avLst>
          </a:prstGeom>
          <a:solidFill>
            <a:srgbClr val="FF7F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219200" y="2286000"/>
            <a:ext cx="965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DHT11：</a:t>
            </a:r>
            <a:r>
              <a:rPr lang="en-US" sz="18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周期性采集温湿度，数据通过消息队列供菜单、蓝牙、MQTT等任务使用。</a:t>
            </a:r>
            <a:endParaRPr lang="en-US" sz="1800"/>
          </a:p>
        </p:txBody>
      </p:sp>
      <p:sp>
        <p:nvSpPr>
          <p:cNvPr id="8" name="AutoShape 8"/>
          <p:cNvSpPr/>
          <p:nvPr/>
        </p:nvSpPr>
        <p:spPr>
          <a:xfrm>
            <a:off x="1016000" y="2984500"/>
            <a:ext cx="76200" cy="203200"/>
          </a:xfrm>
          <a:prstGeom prst="roundRect">
            <a:avLst>
              <a:gd name="adj" fmla="val 0"/>
            </a:avLst>
          </a:prstGeom>
          <a:solidFill>
            <a:srgbClr val="FF7F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219200" y="2921000"/>
            <a:ext cx="965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MQ-2 &amp; LM393：</a:t>
            </a:r>
            <a:r>
              <a:rPr lang="en-US" sz="18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检测到火/</a:t>
            </a:r>
            <a:r>
              <a:rPr lang="en-US" sz="18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烟时，通过DO口边沿变化更新全局状态，并立即触发报警链路</a:t>
            </a:r>
            <a:r>
              <a:rPr lang="en-US" sz="18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800" dirty="0"/>
          </a:p>
        </p:txBody>
      </p:sp>
      <p:sp>
        <p:nvSpPr>
          <p:cNvPr id="10" name="AutoShape 10"/>
          <p:cNvSpPr/>
          <p:nvPr/>
        </p:nvSpPr>
        <p:spPr>
          <a:xfrm>
            <a:off x="1016000" y="3619500"/>
            <a:ext cx="76200" cy="203200"/>
          </a:xfrm>
          <a:prstGeom prst="roundRect">
            <a:avLst>
              <a:gd name="adj" fmla="val 0"/>
            </a:avLst>
          </a:prstGeom>
          <a:solidFill>
            <a:srgbClr val="FF7F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219200" y="3556000"/>
            <a:ext cx="965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HC-SR04：</a:t>
            </a:r>
            <a:r>
              <a:rPr lang="en-US" sz="18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实时测距并与预设报警距离比较，实现门口入侵检测。</a:t>
            </a:r>
            <a:endParaRPr lang="en-US" sz="1800" dirty="0"/>
          </a:p>
        </p:txBody>
      </p:sp>
      <p:sp>
        <p:nvSpPr>
          <p:cNvPr id="12" name="AutoShape 12"/>
          <p:cNvSpPr/>
          <p:nvPr/>
        </p:nvSpPr>
        <p:spPr>
          <a:xfrm>
            <a:off x="1016000" y="4254500"/>
            <a:ext cx="76200" cy="203200"/>
          </a:xfrm>
          <a:prstGeom prst="roundRect">
            <a:avLst>
              <a:gd name="adj" fmla="val 0"/>
            </a:avLst>
          </a:prstGeom>
          <a:solidFill>
            <a:srgbClr val="FF7F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219200" y="4191000"/>
            <a:ext cx="965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 dirty="0" err="1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OLED：</a:t>
            </a:r>
            <a:r>
              <a:rPr lang="en-US" sz="18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采用单任务消费显示队列的方式，避免多任务抢占屏幕资源</a:t>
            </a:r>
            <a:r>
              <a:rPr lang="en-US" sz="18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800" dirty="0"/>
          </a:p>
        </p:txBody>
      </p:sp>
      <p:sp>
        <p:nvSpPr>
          <p:cNvPr id="14" name="AutoShape 14"/>
          <p:cNvSpPr/>
          <p:nvPr/>
        </p:nvSpPr>
        <p:spPr>
          <a:xfrm>
            <a:off x="1016000" y="49530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7F00"/>
                </a:solidFill>
                <a:latin typeface="Noto Sans SC"/>
                <a:ea typeface="Noto Sans SC"/>
                <a:cs typeface="Noto Sans SC"/>
                <a:sym typeface="Noto Sans SC"/>
              </a:rPr>
              <a:t>传感器接口选择说明：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5334000"/>
            <a:ext cx="990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b="0" i="0" u="none" strike="noStrike" dirty="0" err="1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本系统中，火焰传感器</a:t>
            </a:r>
            <a:r>
              <a:rPr lang="en-US" b="0" i="0" u="none" strike="noStrike" dirty="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(LM393)</a:t>
            </a:r>
            <a:r>
              <a:rPr lang="en-US" b="0" i="0" u="none" strike="noStrike" dirty="0" err="1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与烟雾传感器</a:t>
            </a:r>
            <a:r>
              <a:rPr lang="en-US" b="0" i="0" u="none" strike="noStrike" dirty="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(MQ-2)</a:t>
            </a:r>
            <a:r>
              <a:rPr lang="en-US" b="0" i="0" u="none" strike="noStrike" dirty="0" err="1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均采用</a:t>
            </a:r>
            <a:r>
              <a:rPr lang="en-US" b="1" i="0" u="none" strike="noStrike" dirty="0" err="1">
                <a:solidFill>
                  <a:srgbClr val="FF7F00"/>
                </a:solidFill>
                <a:latin typeface="Noto Sans SC"/>
                <a:ea typeface="Noto Sans SC"/>
                <a:cs typeface="Noto Sans SC"/>
                <a:sym typeface="Noto Sans SC"/>
              </a:rPr>
              <a:t>数字IO口</a:t>
            </a:r>
            <a:r>
              <a:rPr lang="en-US" b="1" i="0" u="none" strike="noStrike" dirty="0">
                <a:solidFill>
                  <a:srgbClr val="FF7F00"/>
                </a:solidFill>
                <a:latin typeface="Noto Sans SC"/>
                <a:ea typeface="Noto Sans SC"/>
                <a:cs typeface="Noto Sans SC"/>
                <a:sym typeface="Noto Sans SC"/>
              </a:rPr>
              <a:t>(DO)</a:t>
            </a:r>
            <a:r>
              <a:rPr lang="en-US" b="0" i="0" u="none" strike="noStrike" dirty="0" err="1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进行信号读取</a:t>
            </a:r>
            <a:r>
              <a:rPr lang="en-US" b="0" i="0" u="none" strike="noStrike" dirty="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200" dirty="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设计考量：开发板供电4.6V(低于传感器5V标准)；• </a:t>
            </a: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技术验证：电压不足导致AO读数不稳定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；• </a:t>
            </a: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解决方案：采用DO高低电平触发报警，确保非标准环境下的稳定性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635000"/>
            <a:ext cx="11176000" cy="5588000"/>
          </a:xfrm>
          <a:prstGeom prst="roundRect">
            <a:avLst>
              <a:gd name="adj" fmla="val 363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889000" y="1016000"/>
            <a:ext cx="1041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6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板块二 · 远程控制：近场蓝牙 + 云端 WiFi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889000" y="1905000"/>
            <a:ext cx="10414000" cy="406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EA580C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双远程通道：近场蓝牙与云端WiFi的协同优势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本系统融合</a:t>
            </a:r>
            <a:r>
              <a:rPr kumimoji="0" 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EA580C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近场蓝牙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与</a:t>
            </a:r>
            <a:r>
              <a:rPr kumimoji="0" 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EA580C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云端WiFi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两种通道，实现功能互补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4B5563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1. 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蓝牙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(Bluetooth) - 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近场交互首选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 marL="25400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kumimoji="0" 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优势：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连接便捷免配网；低功耗适配调试；近距离通信稳定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marL="25400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kumimoji="0" 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场景：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初次配网、参数微调、本地测试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4B5563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2. 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WiFi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(MQTT/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OneNET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) - 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远程监控核心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 marL="25400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kumimoji="0" 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优势：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突破距离限制；高带宽交互；无缝接入云平台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marL="25400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kumimoji="0" 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场景：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远程监控、设备控制、历史数据查看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4B5563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EA580C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协同价值：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蓝牙解决“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最后一米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”，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WiFi突破空间限制，实现全时掌控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5842000"/>
          </a:xfrm>
          <a:prstGeom prst="roundRect">
            <a:avLst>
              <a:gd name="adj" fmla="val 260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889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600" b="1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板块三 · ASRPRO 离线语音交互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889000" y="1333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核心设计亮点：从“被动查询”到“主动报警”的革新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889000" y="1905000"/>
            <a:ext cx="3302000" cy="2667000"/>
          </a:xfrm>
          <a:prstGeom prst="roundRect">
            <a:avLst>
              <a:gd name="adj" fmla="val 3809"/>
            </a:avLst>
          </a:prstGeom>
          <a:solidFill>
            <a:srgbClr val="FEF2F2">
              <a:alpha val="100000"/>
            </a:srgbClr>
          </a:solidFill>
          <a:ln w="25400" cap="flat" cmpd="sng">
            <a:solidFill>
              <a:srgbClr val="FCA5A5">
                <a:alpha val="100000"/>
              </a:srgbClr>
            </a:solidFill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79500" y="2095500"/>
            <a:ext cx="292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1. 传统模式痛点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79500" y="2540000"/>
            <a:ext cx="2921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 被动响应：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需用户主动指令，系统才反馈。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 隐患巨大：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突发危险无法及时告警，不符合安防要求。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4445000" y="1905000"/>
            <a:ext cx="3302000" cy="2667000"/>
          </a:xfrm>
          <a:prstGeom prst="roundRect">
            <a:avLst>
              <a:gd name="adj" fmla="val 3809"/>
            </a:avLst>
          </a:prstGeom>
          <a:solidFill>
            <a:srgbClr val="FFF7ED">
              <a:alpha val="100000"/>
            </a:srgbClr>
          </a:solidFill>
          <a:ln w="25400" cap="flat" cmpd="sng">
            <a:solidFill>
              <a:srgbClr val="FDBA74">
                <a:alpha val="100000"/>
              </a:srgbClr>
            </a:solidFill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635500" y="2095500"/>
            <a:ext cx="292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EA580C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2. 主动报警实现逻辑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635500" y="2540000"/>
            <a:ext cx="2921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EA580C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1. 硬件触发：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传感器DO口电平变。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4166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EA580C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2. 信号量：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中断释放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二值信号量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marL="0" marR="0" lvl="0" indent="0" algn="l" defTabSz="914400" rtl="0" eaLnBrk="1" fontAlgn="auto" latinLnBrk="0" hangingPunct="1">
              <a:lnSpc>
                <a:spcPct val="104166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EA580C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3. 任务唤醒：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阻塞任务获信号量。</a:t>
            </a:r>
          </a:p>
          <a:p>
            <a:pPr marL="0" marR="0" lvl="0" indent="0" algn="l" defTabSz="914400" rtl="0" eaLnBrk="1" fontAlgn="auto" latinLnBrk="0" hangingPunct="1">
              <a:lnSpc>
                <a:spcPct val="104166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EA580C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4. 主动播报：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直接播放报警语音。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8001000" y="1905000"/>
            <a:ext cx="3302000" cy="2667000"/>
          </a:xfrm>
          <a:prstGeom prst="roundRect">
            <a:avLst>
              <a:gd name="adj" fmla="val 3809"/>
            </a:avLst>
          </a:prstGeom>
          <a:solidFill>
            <a:srgbClr val="EFF6FF">
              <a:alpha val="100000"/>
            </a:srgbClr>
          </a:solidFill>
          <a:ln w="254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191500" y="2095500"/>
            <a:ext cx="292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1E40A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3. 核心设计价值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191500" y="2540000"/>
            <a:ext cx="2921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1E40A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 实时性：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响应缩短至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毫秒级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1E40A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 智能化：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从“被动”升级为“主动”。</a:t>
            </a:r>
          </a:p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1E40A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● 可靠性：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RTOS内核通信，优于轮询。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89000" y="4953000"/>
            <a:ext cx="10414000" cy="1016000"/>
          </a:xfrm>
          <a:prstGeom prst="roundRect">
            <a:avLst>
              <a:gd name="adj" fmla="val 10000"/>
            </a:avLst>
          </a:prstGeom>
          <a:solidFill>
            <a:srgbClr val="F9FAFB">
              <a:alpha val="100000"/>
            </a:srgbClr>
          </a:solidFill>
          <a:ln w="254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43000" y="5080000"/>
            <a:ext cx="762000" cy="762000"/>
          </a:xfrm>
          <a:prstGeom prst="roundRect">
            <a:avLst>
              <a:gd name="adj" fmla="val 13333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6" name="AutoShape 16"/>
          <p:cNvSpPr/>
          <p:nvPr/>
        </p:nvSpPr>
        <p:spPr>
          <a:xfrm>
            <a:off x="2159000" y="5105400"/>
            <a:ext cx="889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 err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核心硬件：ASRPRO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kumimoji="0" lang="en-US" sz="1200" b="1" i="0" u="none" strike="noStrike" kern="0" cap="none" spc="0" normalizeH="0" baseline="0" noProof="0" dirty="0" err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离线语音模块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|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基于FreeRTOS主动报警机制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无需联网本地解析，低功耗高识别率，适配安防实时性与隐私性需求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7F00"/>
                </a:solidFill>
                <a:latin typeface="Noto Sans SC"/>
                <a:ea typeface="Noto Sans SC"/>
                <a:cs typeface="Noto Sans SC"/>
                <a:sym typeface="Noto Sans SC"/>
              </a:rPr>
              <a:t>完成了什么？测得怎么样？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2921000"/>
          </a:xfrm>
          <a:prstGeom prst="roundRect">
            <a:avLst>
              <a:gd name="adj" fmla="val 5217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841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▍ 主要成果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413000"/>
            <a:ext cx="4699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FF7F00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完成17个任务的</a:t>
            </a:r>
            <a:r>
              <a:rPr lang="en-US" sz="1300" b="1" i="0" u="none" strike="noStrike">
                <a:solidFill>
                  <a:srgbClr val="FF7F00"/>
                </a:solidFill>
                <a:latin typeface="Noto Sans SC"/>
                <a:ea typeface="Noto Sans SC"/>
                <a:cs typeface="Noto Sans SC"/>
                <a:sym typeface="Noto Sans SC"/>
              </a:rPr>
              <a:t>FreeRTOS 架构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，实现采集、显示、报警、通信、存储的明确分工。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FF7F00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实现基于“火烟边沿+信号量”的快速报警链路，</a:t>
            </a:r>
            <a:r>
              <a:rPr lang="en-US" sz="1300" b="1" i="0" u="none" strike="noStrike">
                <a:solidFill>
                  <a:srgbClr val="FF7F00"/>
                </a:solidFill>
                <a:latin typeface="Noto Sans SC"/>
                <a:ea typeface="Noto Sans SC"/>
                <a:cs typeface="Noto Sans SC"/>
                <a:sym typeface="Noto Sans SC"/>
              </a:rPr>
              <a:t>近场推送延迟约 50ms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FF7F00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实现 RFID 门禁功能，并利用 EEPROM 实现参数的掉电保存功能。</a:t>
            </a:r>
          </a:p>
          <a:p>
            <a:pPr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FF7F00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打通</a:t>
            </a:r>
            <a:r>
              <a:rPr lang="en-US" sz="1300" b="1" i="0" u="none" strike="noStrike">
                <a:solidFill>
                  <a:srgbClr val="FF7F00"/>
                </a:solidFill>
                <a:latin typeface="Noto Sans SC"/>
                <a:ea typeface="Noto Sans SC"/>
                <a:cs typeface="Noto Sans SC"/>
                <a:sym typeface="Noto Sans SC"/>
              </a:rPr>
              <a:t>蓝牙 + MQTT/OneNET 双远程通道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，保障连接稳定。</a:t>
            </a:r>
          </a:p>
          <a:p>
            <a:pPr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FF7F00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系统长期通电运行稳定，功能完整，完全满足课程设计验收标准。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4826000"/>
            <a:ext cx="5207000" cy="1524000"/>
          </a:xfrm>
          <a:prstGeom prst="roundRect">
            <a:avLst>
              <a:gd name="adj" fmla="val 10000"/>
            </a:avLst>
          </a:prstGeom>
          <a:solidFill>
            <a:srgbClr val="FF7F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16000" y="5016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★ 系统核心亮点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5461000"/>
            <a:ext cx="4902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4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多传感融合</a:t>
            </a:r>
            <a:r>
              <a:rPr lang="en-US" sz="14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| </a:t>
            </a:r>
            <a:r>
              <a:rPr lang="en-US" sz="14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RTOS任务解耦</a:t>
            </a:r>
            <a:r>
              <a:rPr lang="en-US" sz="14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| </a:t>
            </a:r>
            <a:r>
              <a:rPr lang="en-US" sz="14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近场</a:t>
            </a:r>
            <a:r>
              <a:rPr lang="en-US" sz="14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4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云端双通道</a:t>
            </a:r>
            <a:r>
              <a:rPr lang="en-US" sz="14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| </a:t>
            </a:r>
            <a:r>
              <a:rPr lang="en-US" sz="14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语音主动告警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6223000" y="1651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1F2937">
              <a:alpha val="95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rcRect l="25093" r="25093"/>
          <a:stretch>
            <a:fillRect/>
          </a:stretch>
        </p:blipFill>
        <p:spPr>
          <a:xfrm>
            <a:off x="6413500" y="2032000"/>
            <a:ext cx="4826000" cy="3048000"/>
          </a:xfrm>
          <a:prstGeom prst="rect">
            <a:avLst/>
          </a:prstGeom>
          <a:noFill/>
          <a:ln w="25400" cap="flat" cmpd="sng">
            <a:solidFill>
              <a:srgbClr val="FFFFFF">
                <a:alpha val="8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2" name="AutoShape 12"/>
          <p:cNvSpPr/>
          <p:nvPr/>
        </p:nvSpPr>
        <p:spPr>
          <a:xfrm>
            <a:off x="6413500" y="53340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OneNET 物联网平台控制台界面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数据可视化展示 · 远程控制 · 多设备管理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7F00"/>
                </a:solidFill>
                <a:latin typeface="Noto Sans SC"/>
                <a:ea typeface="Noto Sans SC"/>
                <a:cs typeface="Noto Sans SC"/>
                <a:sym typeface="Noto Sans SC"/>
              </a:rPr>
              <a:t>后续优化方向与“三端通路”设想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914400"/>
          </a:xfrm>
          <a:prstGeom prst="roundRect">
            <a:avLst>
              <a:gd name="adj" fmla="val 11111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FF7F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625600"/>
            <a:ext cx="1905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7F00"/>
                </a:solidFill>
                <a:latin typeface="Noto Sans SC"/>
                <a:ea typeface="Noto Sans SC"/>
                <a:cs typeface="Noto Sans SC"/>
                <a:sym typeface="Noto Sans SC"/>
              </a:rPr>
              <a:t>报警实时性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048000" y="1625600"/>
            <a:ext cx="3175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现状：云端仍依赖周期上报，存在一定延迟风险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477000" y="1625600"/>
            <a:ext cx="4699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思路：提高报警任务优先级；火烟异常立即MQTT上报；增加边缘侧数据预处理。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603500"/>
            <a:ext cx="10668000" cy="914400"/>
          </a:xfrm>
          <a:prstGeom prst="roundRect">
            <a:avLst>
              <a:gd name="adj" fmla="val 11111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FF7F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52500" y="2705100"/>
            <a:ext cx="1905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7F00"/>
                </a:solidFill>
                <a:latin typeface="Noto Sans SC"/>
                <a:ea typeface="Noto Sans SC"/>
                <a:cs typeface="Noto Sans SC"/>
                <a:sym typeface="Noto Sans SC"/>
              </a:rPr>
              <a:t>云端可用性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048000" y="2705100"/>
            <a:ext cx="3175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现状：功能单一，仅能通过OneNET网页演示，缺乏移动端入口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6477000" y="2705100"/>
            <a:ext cx="4699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思路：开发跨平台Flutter手机App，实现设备状态监控、实时告警推送及远程控制功能</a:t>
            </a:r>
            <a:r>
              <a:rPr lang="en-US" sz="1300" b="0" i="0" u="none" strike="noStrike" dirty="0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762000" y="3683000"/>
            <a:ext cx="10668000" cy="914400"/>
          </a:xfrm>
          <a:prstGeom prst="roundRect">
            <a:avLst>
              <a:gd name="adj" fmla="val 11111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FF7F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952500" y="3784600"/>
            <a:ext cx="1905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7F00"/>
                </a:solidFill>
                <a:latin typeface="Noto Sans SC"/>
                <a:ea typeface="Noto Sans SC"/>
                <a:cs typeface="Noto Sans SC"/>
                <a:sym typeface="Noto Sans SC"/>
              </a:rPr>
              <a:t>三端通路闭环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048000" y="3784600"/>
            <a:ext cx="3175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现状：仅完成“设备</a:t>
            </a:r>
            <a:r>
              <a:rPr lang="zh-CN" altLang="en-US" sz="13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端</a:t>
            </a:r>
            <a:r>
              <a:rPr lang="en-US" altLang="zh-CN" sz="13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-</a:t>
            </a:r>
            <a:r>
              <a:rPr lang="en-US" sz="13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云</a:t>
            </a:r>
            <a:r>
              <a:rPr lang="zh-CN" altLang="en-US" sz="13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端</a:t>
            </a:r>
            <a:r>
              <a:rPr lang="en-US" sz="13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”</a:t>
            </a:r>
            <a:r>
              <a:rPr lang="en-US" sz="13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基础链路，缺失应用端交互</a:t>
            </a: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6477000" y="3784600"/>
            <a:ext cx="4699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 dirty="0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思路：构建“设备-云端-应用”完整闭环：STM32边缘端 → </a:t>
            </a:r>
            <a:r>
              <a:rPr lang="en-US" sz="1300" b="0" i="0" u="none" strike="noStrike" dirty="0" err="1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OneNET云平台</a:t>
            </a:r>
            <a:r>
              <a:rPr lang="en-US" sz="1300" b="0" i="0" u="none" strike="noStrike" dirty="0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 → </a:t>
            </a:r>
            <a:r>
              <a:rPr lang="en-US" sz="1300" b="0" i="0" u="none" strike="noStrike" dirty="0" err="1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Flutter移动端</a:t>
            </a:r>
            <a:r>
              <a:rPr lang="en-US" sz="1300" b="0" i="0" u="none" strike="noStrike" dirty="0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762000" y="4762500"/>
            <a:ext cx="10668000" cy="914400"/>
          </a:xfrm>
          <a:prstGeom prst="roundRect">
            <a:avLst>
              <a:gd name="adj" fmla="val 11111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FF7F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952500" y="4864100"/>
            <a:ext cx="1905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7F00"/>
                </a:solidFill>
                <a:latin typeface="Noto Sans SC"/>
                <a:ea typeface="Noto Sans SC"/>
                <a:cs typeface="Noto Sans SC"/>
                <a:sym typeface="Noto Sans SC"/>
              </a:rPr>
              <a:t>配网与维护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3048000" y="4864100"/>
            <a:ext cx="3175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现状：WiFi为固定SSID，需线下烧录固件，维护不便</a:t>
            </a:r>
            <a:endParaRPr lang="en-US" sz="1100" dirty="0"/>
          </a:p>
        </p:txBody>
      </p:sp>
      <p:sp>
        <p:nvSpPr>
          <p:cNvPr id="19" name="AutoShape 19"/>
          <p:cNvSpPr/>
          <p:nvPr/>
        </p:nvSpPr>
        <p:spPr>
          <a:xfrm>
            <a:off x="6477000" y="4864100"/>
            <a:ext cx="4699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思路：增加BLE蓝牙配网功能，提升配网便捷性；支持OTA固件远程升级，降低维护成本。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0" y="5842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FF7F00"/>
                </a:solidFill>
                <a:latin typeface="Noto Sans SC"/>
                <a:ea typeface="Noto Sans SC"/>
                <a:cs typeface="Noto Sans SC"/>
                <a:sym typeface="Noto Sans SC"/>
              </a:rPr>
              <a:t>感谢段霖老师的悉心指导，以及各位答辩老师的聆听</a:t>
            </a:r>
            <a:r>
              <a:rPr lang="en-US" sz="2000" b="1" i="0" u="none" strike="noStrike" dirty="0">
                <a:solidFill>
                  <a:srgbClr val="FF7F00"/>
                </a:solidFill>
                <a:latin typeface="Noto Sans SC"/>
                <a:ea typeface="Noto Sans SC"/>
                <a:cs typeface="Noto Sans SC"/>
                <a:sym typeface="Noto Sans SC"/>
              </a:rPr>
              <a:t>！</a:t>
            </a:r>
            <a:endParaRPr lang="en-US" sz="1100" dirty="0"/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 dirty="0" err="1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期待您的指正与建议</a:t>
            </a:r>
            <a:endParaRPr lang="en-US" sz="1400" b="0" i="0" u="none" strike="noStrike" dirty="0">
              <a:solidFill>
                <a:srgbClr val="D1D5D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1157</Words>
  <Application>Microsoft Office PowerPoint</Application>
  <PresentationFormat>宽屏</PresentationFormat>
  <Paragraphs>163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兆国 吴</cp:lastModifiedBy>
  <cp:revision>16</cp:revision>
  <dcterms:modified xsi:type="dcterms:W3CDTF">2026-05-18T12:03:48Z</dcterms:modified>
</cp:coreProperties>
</file>